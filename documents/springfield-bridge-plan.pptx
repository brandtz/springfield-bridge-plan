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1722" y="1010841"/>
            <a:ext cx="47405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SCHOOL DISTRICT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30913" y="1387971"/>
            <a:ext cx="3682174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spcAft>
                <a:spcPts val="120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Springfield</a:t>
            </a:r>
            <a:endParaRPr lang="en-US" sz="3900" dirty="0"/>
          </a:p>
          <a:p>
            <a:pPr algn="ctr" indent="0" marL="0">
              <a:lnSpc>
                <a:spcPts val="4290"/>
              </a:lnSpc>
              <a:spcAft>
                <a:spcPts val="120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Plan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201722" y="2629793"/>
            <a:ext cx="474055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$2.35M Gap Without Mid-Year Layoffs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191000" y="3304133"/>
            <a:ext cx="762000" cy="3810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01722" y="3723233"/>
            <a:ext cx="47405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Alternative for Board, Union &amp; District Leadership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201722" y="3972669"/>
            <a:ext cx="4740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Message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674465"/>
            <a:ext cx="8382000" cy="628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674465"/>
            <a:ext cx="0" cy="628650"/>
          </a:xfrm>
          <a:prstGeom prst="line">
            <a:avLst/>
          </a:prstGeom>
          <a:noFill/>
          <a:ln w="47625">
            <a:solidFill>
              <a:srgbClr val="D69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788765"/>
            <a:ext cx="819016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a </a:t>
            </a:r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path forward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avoids mid-year layoffs, maintains educational continuity, and positions us for sustainable funding through a May levy.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436465"/>
            <a:ext cx="2705100" cy="822871"/>
          </a:xfrm>
          <a:prstGeom prst="roundRect">
            <a:avLst>
              <a:gd name="adj" fmla="val 694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9966" y="2569815"/>
            <a:ext cx="248716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$3.69M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89966" y="295453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Savings Available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19450" y="2436465"/>
            <a:ext cx="2705100" cy="822871"/>
          </a:xfrm>
          <a:prstGeom prst="roundRect">
            <a:avLst>
              <a:gd name="adj" fmla="val 694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8416" y="2569815"/>
            <a:ext cx="248716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$2.35M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328416" y="295453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to Close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57900" y="2436465"/>
            <a:ext cx="2705100" cy="822871"/>
          </a:xfrm>
          <a:prstGeom prst="roundRect">
            <a:avLst>
              <a:gd name="adj" fmla="val 694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66866" y="2569815"/>
            <a:ext cx="248716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$1.34M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166866" y="295453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for Uncertainties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01367" y="3392686"/>
            <a:ext cx="1135707" cy="247650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34717" y="3449836"/>
            <a:ext cx="8863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Legally defensible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32324" y="3392686"/>
            <a:ext cx="1315492" cy="247650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65674" y="3449836"/>
            <a:ext cx="10697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Operationally practical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43066" y="3392686"/>
            <a:ext cx="1299567" cy="247650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76416" y="3449836"/>
            <a:ext cx="10535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Positions for May levy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January 8, 2026 Budget Working Session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$2.35M Gap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738461"/>
            <a:ext cx="4171950" cy="864691"/>
          </a:xfrm>
          <a:prstGeom prst="roundRect">
            <a:avLst>
              <a:gd name="adj" fmla="val 6609"/>
            </a:avLst>
          </a:prstGeom>
          <a:solidFill>
            <a:srgbClr val="FEF3C7"/>
          </a:solidFill>
          <a:ln w="19050">
            <a:solidFill>
              <a:srgbClr val="D69E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852761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CAUSE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19100" y="2010817"/>
            <a:ext cx="4022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School Fund Reduction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9100" y="2222153"/>
            <a:ext cx="4022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-$3.26M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679353"/>
            <a:ext cx="4171950" cy="858887"/>
          </a:xfrm>
          <a:prstGeom prst="roundRect">
            <a:avLst>
              <a:gd name="adj" fmla="val 6654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2774603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DECLINE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96236" y="2932658"/>
            <a:ext cx="38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9,374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6236" y="3145929"/>
            <a:ext cx="3890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24-25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857696" y="2985939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82482" y="2932658"/>
            <a:ext cx="3890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82482" y="3145929"/>
            <a:ext cx="3890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25-26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60235" y="3309640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-473 students (-5%)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7250" y="1846957"/>
            <a:ext cx="42553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COST PRESSURES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667250" y="2014538"/>
            <a:ext cx="417195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1538" y="2014538"/>
            <a:ext cx="0" cy="2476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2025" y="2071688"/>
            <a:ext cx="653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Salary/Benefits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42573" y="2071688"/>
            <a:ext cx="3268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+$5.5M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7250" y="2309813"/>
            <a:ext cx="417195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1538" y="2309813"/>
            <a:ext cx="0" cy="2476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2025" y="2366963"/>
            <a:ext cx="442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ESD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389590" y="2366963"/>
            <a:ext cx="3808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+$1.82M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7250" y="2605088"/>
            <a:ext cx="417195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1538" y="2605088"/>
            <a:ext cx="0" cy="2476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2025" y="2662238"/>
            <a:ext cx="7667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Insurance/Utilities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426648" y="2662238"/>
            <a:ext cx="343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+$430K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67250" y="2900363"/>
            <a:ext cx="417195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1538" y="2900363"/>
            <a:ext cx="0" cy="2476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2025" y="2957513"/>
            <a:ext cx="545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 Rates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71433" y="2957513"/>
            <a:ext cx="3993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7250" y="3195638"/>
            <a:ext cx="4171950" cy="234255"/>
          </a:xfrm>
          <a:prstGeom prst="roundRect">
            <a:avLst>
              <a:gd name="adj" fmla="val 1626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24400" y="3252788"/>
            <a:ext cx="4138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Revenue problem, not spending.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Budget Working Session, Pages 11-12, 14, 19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Mid-Year RIFs Are High Risk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122164"/>
            <a:ext cx="4171950" cy="969615"/>
          </a:xfrm>
          <a:prstGeom prst="roundRect">
            <a:avLst>
              <a:gd name="adj" fmla="val 5894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293614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LEGAL RISK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6250" y="1548854"/>
            <a:ext cx="39056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17-day notice violates CBA requirements. Legal challenge likely to succeed, resulting in process halt, damages, and attorney fees.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667250" y="1122164"/>
            <a:ext cx="4171950" cy="969615"/>
          </a:xfrm>
          <a:prstGeom prst="roundRect">
            <a:avLst>
              <a:gd name="adj" fmla="val 5894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8700" y="1293614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COMMUNITY IMPACT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38700" y="1548854"/>
            <a:ext cx="39056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Mid-year layoffs create parent backlash, worsen enrollment decline, and damage trust needed for levy passage.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4800" y="2206079"/>
            <a:ext cx="4171950" cy="969615"/>
          </a:xfrm>
          <a:prstGeom prst="roundRect">
            <a:avLst>
              <a:gd name="adj" fmla="val 5894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377529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OPERATIONAL CHAOS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" y="2632770"/>
            <a:ext cx="39056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Disrupts students mid-year, collapses remaining staff morale, increases sick days and turnover, makes future recruitment harder.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667250" y="2206079"/>
            <a:ext cx="4171950" cy="969615"/>
          </a:xfrm>
          <a:prstGeom prst="roundRect">
            <a:avLst>
              <a:gd name="adj" fmla="val 5894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2377529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LEVY FAILURE RISK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38700" y="2632770"/>
            <a:ext cx="39056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resentment from RIFs makes May levy much harder to pass. Creates downward spiral for 2026-27 and beyond.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04800" y="3366195"/>
            <a:ext cx="8534400" cy="807541"/>
          </a:xfrm>
          <a:prstGeom prst="roundRect">
            <a:avLst>
              <a:gd name="adj" fmla="val 707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2628" y="3556695"/>
            <a:ext cx="823874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alternative: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furlough approach has significantly lower risk across all dimensions while achieving the same financial goal.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 resolution passed January 13,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4788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Four-Pronged Solution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286024"/>
            <a:ext cx="2019300" cy="1830437"/>
          </a:xfrm>
          <a:prstGeom prst="roundRect">
            <a:avLst>
              <a:gd name="adj" fmla="val 312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45747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914674"/>
            <a:ext cx="170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Furloughs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6250" y="2190899"/>
            <a:ext cx="170992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$1.61M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76250" y="261372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SEA + 6 days OSEA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sacrifice across all staff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476500" y="1286024"/>
            <a:ext cx="2019300" cy="1830437"/>
          </a:xfrm>
          <a:prstGeom prst="roundRect">
            <a:avLst>
              <a:gd name="adj" fmla="val 312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47950" y="145747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47950" y="1914674"/>
            <a:ext cx="170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Deferral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647950" y="2190899"/>
            <a:ext cx="170992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$1.60M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647950" y="261372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1.5% spent to date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non-critical projects 1 year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48200" y="1286024"/>
            <a:ext cx="2019300" cy="1830437"/>
          </a:xfrm>
          <a:prstGeom prst="roundRect">
            <a:avLst>
              <a:gd name="adj" fmla="val 312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145747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1914674"/>
            <a:ext cx="170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Furloughs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819650" y="2190899"/>
            <a:ext cx="170992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819650" y="261372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days for admin staff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shares the burden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819900" y="1286024"/>
            <a:ext cx="2019300" cy="1830437"/>
          </a:xfrm>
          <a:prstGeom prst="roundRect">
            <a:avLst>
              <a:gd name="adj" fmla="val 312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91350" y="145747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91350" y="1914674"/>
            <a:ext cx="170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Cuts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991350" y="2190899"/>
            <a:ext cx="170992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$375K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91350" y="261372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Supplies, PD, travel, misc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belt-tightening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04800" y="3268861"/>
            <a:ext cx="8534400" cy="1005780"/>
          </a:xfrm>
          <a:prstGeom prst="roundRect">
            <a:avLst>
              <a:gd name="adj" fmla="val 568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87463" y="3459361"/>
            <a:ext cx="15559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SAVINGS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7463" y="3657451"/>
            <a:ext cx="155599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$3,687,636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409206" y="3533626"/>
            <a:ext cx="19050" cy="4762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94001" y="3459361"/>
            <a:ext cx="15559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TO CLOSE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94001" y="3657451"/>
            <a:ext cx="155599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$2,350,000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715744" y="3533626"/>
            <a:ext cx="19050" cy="476250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00539" y="3459361"/>
            <a:ext cx="15559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REMAINING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00539" y="3657451"/>
            <a:ext cx="155599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$1,337,636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19456" y="4427041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available for revenue shortfalls, enrollment decline, or negotiation flexibility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60624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Furlough Impact: Manageable Shared Sacrifice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374577"/>
            <a:ext cx="4124325" cy="676126"/>
          </a:xfrm>
          <a:prstGeom prst="roundRect">
            <a:avLst>
              <a:gd name="adj" fmla="val 845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526977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- LICENSED STAFF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751707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 FTE • 190 contract days • $85K avg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04800" y="2165003"/>
            <a:ext cx="4124325" cy="998041"/>
          </a:xfrm>
          <a:prstGeom prst="roundRect">
            <a:avLst>
              <a:gd name="adj" fmla="val 381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150" y="2298353"/>
            <a:ext cx="11276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cost per teacher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41428" y="2298353"/>
            <a:ext cx="259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150" y="2534543"/>
            <a:ext cx="10561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District-wide per 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8930" y="2534543"/>
            <a:ext cx="4863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$178,948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150" y="2770733"/>
            <a:ext cx="3857625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856458"/>
            <a:ext cx="7347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Total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675906" y="2856458"/>
            <a:ext cx="6322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$1,252,636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04800" y="3277344"/>
            <a:ext cx="4124325" cy="388590"/>
          </a:xfrm>
          <a:prstGeom prst="roundRect">
            <a:avLst>
              <a:gd name="adj" fmla="val 9805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3391644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3.7% pay reduction — meaningful but manageable for one year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14875" y="1374577"/>
            <a:ext cx="4124325" cy="676126"/>
          </a:xfrm>
          <a:prstGeom prst="roundRect">
            <a:avLst>
              <a:gd name="adj" fmla="val 845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67275" y="1526977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OSEA - CLASSIFIED STAFF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7275" y="1751707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FTE • 260 work days • $52K avg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14875" y="2165003"/>
            <a:ext cx="4124325" cy="998041"/>
          </a:xfrm>
          <a:prstGeom prst="roundRect">
            <a:avLst>
              <a:gd name="adj" fmla="val 381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8225" y="2298353"/>
            <a:ext cx="9568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cost per staff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51503" y="2298353"/>
            <a:ext cx="259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8225" y="2534543"/>
            <a:ext cx="10561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District-wide per day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92554" y="2534543"/>
            <a:ext cx="4215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8225" y="2770733"/>
            <a:ext cx="3857625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48225" y="2856458"/>
            <a:ext cx="7347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Days Total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189268" y="2856458"/>
            <a:ext cx="5269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$360,000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14875" y="3277344"/>
            <a:ext cx="4124325" cy="388590"/>
          </a:xfrm>
          <a:prstGeom prst="roundRect">
            <a:avLst>
              <a:gd name="adj" fmla="val 9805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9175" y="3391644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2.3% pay reduction — less impact on 12-month staff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4800" y="4526310"/>
            <a:ext cx="8534400" cy="388590"/>
          </a:xfrm>
          <a:prstGeom prst="roundRect">
            <a:avLst>
              <a:gd name="adj" fmla="val 98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4904" y="4640610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Furlough Savings: $1,612,636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Both unions have expressed willingness to negotiate furloughs over mid-year layoffs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18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Outlay: The Biggest Opportunity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371749"/>
            <a:ext cx="4124325" cy="1685776"/>
          </a:xfrm>
          <a:prstGeom prst="roundRect">
            <a:avLst>
              <a:gd name="adj" fmla="val 3390"/>
            </a:avLst>
          </a:prstGeom>
          <a:solidFill>
            <a:srgbClr val="F0FFF4"/>
          </a:solidFill>
          <a:ln w="19050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581299"/>
            <a:ext cx="37793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4350" y="1817489"/>
            <a:ext cx="37793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1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nothing has been spent yet — this is the easiest target for deferral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14350" y="2369939"/>
            <a:ext cx="10697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Budgeted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4350" y="2554635"/>
            <a:ext cx="10697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$1,912,090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91742" y="2369939"/>
            <a:ext cx="9090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(as of 12/31)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791742" y="2554635"/>
            <a:ext cx="90900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$29,500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11525" y="2369939"/>
            <a:ext cx="4872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Used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911525" y="2554635"/>
            <a:ext cx="48729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4800" y="3209925"/>
            <a:ext cx="4124325" cy="714226"/>
          </a:xfrm>
          <a:prstGeom prst="roundRect">
            <a:avLst>
              <a:gd name="adj" fmla="val 800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3362325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Deferral: $1,600,000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57200" y="3611761"/>
            <a:ext cx="3895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$312K for safety/ADA/critical maintenance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14875" y="1030784"/>
            <a:ext cx="4206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BY CATEGORY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14875" y="1286024"/>
            <a:ext cx="4124325" cy="388590"/>
          </a:xfrm>
          <a:prstGeom prst="roundRect">
            <a:avLst>
              <a:gd name="adj" fmla="val 980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8225" y="1400324"/>
            <a:ext cx="1749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(computers, software)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8903" y="1400324"/>
            <a:ext cx="343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4875" y="1769864"/>
            <a:ext cx="4124325" cy="388590"/>
          </a:xfrm>
          <a:prstGeom prst="roundRect">
            <a:avLst>
              <a:gd name="adj" fmla="val 980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8225" y="1884164"/>
            <a:ext cx="16520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(cosmetic, non-critical)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68903" y="1884164"/>
            <a:ext cx="343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4875" y="2253704"/>
            <a:ext cx="4124325" cy="388590"/>
          </a:xfrm>
          <a:prstGeom prst="roundRect">
            <a:avLst>
              <a:gd name="adj" fmla="val 980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48225" y="2368004"/>
            <a:ext cx="1166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&amp; Equipment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8903" y="2368004"/>
            <a:ext cx="343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4875" y="2737545"/>
            <a:ext cx="4124325" cy="388590"/>
          </a:xfrm>
          <a:prstGeom prst="roundRect">
            <a:avLst>
              <a:gd name="adj" fmla="val 980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48225" y="2851845"/>
            <a:ext cx="13414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(buses, grounds)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68903" y="2851845"/>
            <a:ext cx="343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4875" y="3221385"/>
            <a:ext cx="4124325" cy="388590"/>
          </a:xfrm>
          <a:prstGeom prst="roundRect">
            <a:avLst>
              <a:gd name="adj" fmla="val 980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48225" y="3335685"/>
            <a:ext cx="18596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Improvements (non-critical)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8903" y="3335685"/>
            <a:ext cx="343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14875" y="3705225"/>
            <a:ext cx="4124325" cy="559891"/>
          </a:xfrm>
          <a:prstGeom prst="roundRect">
            <a:avLst>
              <a:gd name="adj" fmla="val 6805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33925" y="3705225"/>
            <a:ext cx="0" cy="559891"/>
          </a:xfrm>
          <a:prstGeom prst="line">
            <a:avLst/>
          </a:prstGeom>
          <a:noFill/>
          <a:ln w="381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6325" y="3819525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DEFER ($312K)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86325" y="4004221"/>
            <a:ext cx="3895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Safety/security, ADA, code compliance, emergency repairs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Budget Working Session, Page 14 — Capital projects can be restored with levy passage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Savings Breakdown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622078"/>
            <a:ext cx="4983510" cy="2857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698278"/>
            <a:ext cx="3129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09207" y="1698278"/>
            <a:ext cx="1564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4800" y="1945928"/>
            <a:ext cx="498351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003078"/>
            <a:ext cx="3129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Furloughs (7 days)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9207" y="2003078"/>
            <a:ext cx="1564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$1,252,636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2231678"/>
            <a:ext cx="498351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2288828"/>
            <a:ext cx="3129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OSEA Furloughs (6 days)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09207" y="2288828"/>
            <a:ext cx="1564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$360,000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2517428"/>
            <a:ext cx="498351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100" y="2574578"/>
            <a:ext cx="3129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Furloughs (2-3 days)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09207" y="2574578"/>
            <a:ext cx="1564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800" y="2803178"/>
            <a:ext cx="4983510" cy="247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9100" y="2860328"/>
            <a:ext cx="3129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Outlay Deferral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09207" y="2860328"/>
            <a:ext cx="1564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$1,600,000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4800" y="3088928"/>
            <a:ext cx="498351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9100" y="3146078"/>
            <a:ext cx="3129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Supplies/PD/Travel/Other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09207" y="3146078"/>
            <a:ext cx="1564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$375,000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4800" y="3374678"/>
            <a:ext cx="4983510" cy="298996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9100" y="3450878"/>
            <a:ext cx="31297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SAVINGS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609207" y="3450878"/>
            <a:ext cx="15648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$3,687,636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516910" y="1192709"/>
            <a:ext cx="3322290" cy="906661"/>
          </a:xfrm>
          <a:prstGeom prst="roundRect">
            <a:avLst>
              <a:gd name="adj" fmla="val 6303"/>
            </a:avLst>
          </a:prstGeom>
          <a:solidFill>
            <a:srgbClr val="F0FFF4"/>
          </a:solidFill>
          <a:ln w="19050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58566" y="1364159"/>
            <a:ext cx="30389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SAVINGS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58566" y="1554659"/>
            <a:ext cx="30389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$3.69M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516910" y="2213670"/>
            <a:ext cx="3322290" cy="906661"/>
          </a:xfrm>
          <a:prstGeom prst="roundRect">
            <a:avLst>
              <a:gd name="adj" fmla="val 6303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58566" y="2385120"/>
            <a:ext cx="30389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TO CLOSE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58566" y="2575620"/>
            <a:ext cx="30389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$2.35M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516910" y="3234630"/>
            <a:ext cx="3322290" cy="868561"/>
          </a:xfrm>
          <a:prstGeom prst="roundRect">
            <a:avLst>
              <a:gd name="adj" fmla="val 658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9135" y="3387030"/>
            <a:ext cx="30778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39135" y="3577530"/>
            <a:ext cx="30778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$1.34M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available for revenue shortfalls, enrollment decline, or negotiation flexibility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886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Comparison: RIF vs. Bridge Plan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143298"/>
            <a:ext cx="4152900" cy="415230"/>
          </a:xfrm>
          <a:prstGeom prst="roundRect">
            <a:avLst>
              <a:gd name="adj" fmla="val 13763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8719" y="1257598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Mid-Year RIF Approach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4800" y="1653778"/>
            <a:ext cx="4152900" cy="33709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1749028"/>
            <a:ext cx="1229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challenge succeeds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04800" y="2086124"/>
            <a:ext cx="4152900" cy="33709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2181374"/>
            <a:ext cx="104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 violations proven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4800" y="2518470"/>
            <a:ext cx="4152900" cy="33709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150" y="2613720"/>
            <a:ext cx="11526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Student/parent backlash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2950815"/>
            <a:ext cx="4152900" cy="33709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3046065"/>
            <a:ext cx="8909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Levy fails after RIF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04800" y="3383161"/>
            <a:ext cx="4152900" cy="33709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150" y="3478411"/>
            <a:ext cx="12929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recruitment suffers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04800" y="3815507"/>
            <a:ext cx="4152900" cy="33709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8150" y="3910757"/>
            <a:ext cx="996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morale collapse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628948"/>
            <a:ext cx="4152900" cy="415230"/>
          </a:xfrm>
          <a:prstGeom prst="roundRect">
            <a:avLst>
              <a:gd name="adj" fmla="val 13763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219" y="743248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Plan Approach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6300" y="1139428"/>
            <a:ext cx="4152900" cy="50854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1234678"/>
            <a:ext cx="11464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drops further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9650" y="1419374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 by $1.3M buffer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86300" y="1743224"/>
            <a:ext cx="4152900" cy="50854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9650" y="1838474"/>
            <a:ext cx="14199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lower than projected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9650" y="202317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+ healthy fund balance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86300" y="2347020"/>
            <a:ext cx="4152900" cy="50854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9650" y="2442270"/>
            <a:ext cx="9187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morale impact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9650" y="2626965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layoffs; levy hope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86300" y="2950815"/>
            <a:ext cx="4152900" cy="50854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9650" y="3046065"/>
            <a:ext cx="78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Levy fails in May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19650" y="3230761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approach for 26-27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86300" y="3554611"/>
            <a:ext cx="4152900" cy="50854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19650" y="3649861"/>
            <a:ext cx="95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refuses terms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19650" y="3834557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expressed willingness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86300" y="4158407"/>
            <a:ext cx="4152900" cy="50854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19650" y="4253657"/>
            <a:ext cx="9742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expense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819650" y="4438352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$11M+ fund balance remains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19456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Plan has significantly lower risk profile across all dimensions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785045"/>
            <a:ext cx="1645890" cy="798016"/>
          </a:xfrm>
          <a:prstGeom prst="roundRect">
            <a:avLst>
              <a:gd name="adj" fmla="val 716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899345"/>
            <a:ext cx="1484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00050" y="2108895"/>
            <a:ext cx="1484498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board meeting. Present furlough proposal. Board decision Jan 26.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2026890" y="1785045"/>
            <a:ext cx="1645890" cy="798016"/>
          </a:xfrm>
          <a:prstGeom prst="roundRect">
            <a:avLst>
              <a:gd name="adj" fmla="val 716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22140" y="1899345"/>
            <a:ext cx="1484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122140" y="2108895"/>
            <a:ext cx="1484498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negotiations. Union ratification. Board approval. Budget amendments.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748980" y="1785045"/>
            <a:ext cx="1645890" cy="798016"/>
          </a:xfrm>
          <a:prstGeom prst="roundRect">
            <a:avLst>
              <a:gd name="adj" fmla="val 716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44230" y="1899345"/>
            <a:ext cx="1484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4230" y="2108895"/>
            <a:ext cx="148449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reductions. Form levy committee. Begin planning.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471071" y="1785045"/>
            <a:ext cx="1645890" cy="798016"/>
          </a:xfrm>
          <a:prstGeom prst="roundRect">
            <a:avLst>
              <a:gd name="adj" fmla="val 716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66321" y="1899345"/>
            <a:ext cx="1484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66321" y="2108895"/>
            <a:ext cx="148449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Levy campaign. Board resolution. Community outreach.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7193161" y="1785045"/>
            <a:ext cx="1645890" cy="798016"/>
          </a:xfrm>
          <a:prstGeom prst="roundRect">
            <a:avLst>
              <a:gd name="adj" fmla="val 7162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88411" y="1899345"/>
            <a:ext cx="1484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288411" y="2108895"/>
            <a:ext cx="14844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LEVY ELECTION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04800" y="2697361"/>
            <a:ext cx="2768650" cy="520005"/>
          </a:xfrm>
          <a:prstGeom prst="roundRect">
            <a:avLst>
              <a:gd name="adj" fmla="val 1099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9100" y="2811661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9100" y="2983111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emergency board meeting by January 20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187750" y="2697361"/>
            <a:ext cx="2768650" cy="520005"/>
          </a:xfrm>
          <a:prstGeom prst="roundRect">
            <a:avLst>
              <a:gd name="adj" fmla="val 10990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02050" y="2811661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Deadline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02050" y="2983111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26 board meeting is decision point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070699" y="2697361"/>
            <a:ext cx="2768650" cy="520005"/>
          </a:xfrm>
          <a:prstGeom prst="roundRect">
            <a:avLst>
              <a:gd name="adj" fmla="val 10990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4999" y="2811661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84999" y="2983111"/>
            <a:ext cx="25908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Levy passage restores furlough days and capital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04800" y="3331666"/>
            <a:ext cx="8534400" cy="426690"/>
          </a:xfrm>
          <a:prstGeom prst="roundRect">
            <a:avLst>
              <a:gd name="adj" fmla="val 1339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94335" y="3465016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is critical.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day of delay makes mid-year RIFs more disruptive.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3994" y="273844"/>
            <a:ext cx="53760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883994" y="612874"/>
            <a:ext cx="5376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Come Back to the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94421" y="1679674"/>
            <a:ext cx="1699320" cy="1096863"/>
          </a:xfrm>
          <a:prstGeom prst="roundRect">
            <a:avLst>
              <a:gd name="adj" fmla="val 521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71738" y="1870174"/>
            <a:ext cx="134468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Mathematically Sound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971738" y="2292846"/>
            <a:ext cx="134468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target with $1.3M buffer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722340" y="1839516"/>
            <a:ext cx="1699320" cy="777032"/>
          </a:xfrm>
          <a:prstGeom prst="roundRect">
            <a:avLst>
              <a:gd name="adj" fmla="val 735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99657" y="2030016"/>
            <a:ext cx="1344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Legally Defensible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99657" y="2279452"/>
            <a:ext cx="1344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CBA violations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650260" y="1839516"/>
            <a:ext cx="1699320" cy="777032"/>
          </a:xfrm>
          <a:prstGeom prst="roundRect">
            <a:avLst>
              <a:gd name="adj" fmla="val 735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27577" y="2030016"/>
            <a:ext cx="1344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Politically Smart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827577" y="2279452"/>
            <a:ext cx="1344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for levy success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238250" y="3081338"/>
            <a:ext cx="6667500" cy="1310432"/>
          </a:xfrm>
          <a:prstGeom prst="roundRect">
            <a:avLst>
              <a:gd name="adj" fmla="val 581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82471" y="3309938"/>
            <a:ext cx="61790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alternative — laying off teachers with 17 days notice — violates our contract, disrupts students mid-year, and makes a May levy harder to pass.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2471" y="3949898"/>
            <a:ext cx="61790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plan is legal, practical, and builds community support.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92884" y="4696569"/>
            <a:ext cx="41580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support it. The law supports it. The community will support it.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Springfield Bridge Plan</dc:title>
  <dc:subject>Budget Gap Alternative Analysis</dc:subject>
  <dc:creator>Springfield School District</dc:creator>
  <cp:lastModifiedBy>Springfield School District</cp:lastModifiedBy>
  <cp:revision>1</cp:revision>
  <dcterms:created xsi:type="dcterms:W3CDTF">2026-01-15T02:08:36Z</dcterms:created>
  <dcterms:modified xsi:type="dcterms:W3CDTF">2026-01-15T02:08:36Z</dcterms:modified>
</cp:coreProperties>
</file>